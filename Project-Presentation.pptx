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presentation on Flipkart GridLock 2.0. This platform is a comprehensive AI-powered traffic diversion and incident management system designed for smart cities. We've built an end-to-end command center that transforms historical data and live inputs into predictive, actionable traffic management decisions.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Bengaluru faces massive event-driven congestion. Currently, traffic management is reactive, leading to severe bottlenecks and delayed incident response. By moving to a predictive model using our historical Astram data, we have the opportunity to proactively manage traffic, allocate resources intelligently, and execute dynamic diversions.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platform provides an end-to-end workflow. We fuse real-time event parameters with historical Astram data and weather APIs. Our AI models predict clearance time and priority. We then use OR-Tools to optimize police dispatch, compute diversions using a spatial network graph, and display everything in a highly interactive Command Center.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brain of GridLock 2.0 uses powerful ML models. Our XGBoost engine predicts congestion with 89% R-squared. We use LightGBM for clearance time prediction, enriched with NLP embeddings. DBSCAN helps us map blackspots. Most importantly, our Explainable AI (XAI) transparently outlines exactly why it made a deployment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highly modular and strictly open-source. The Presentation Layer uses Streamlit for a fast, beautiful command center. The Service Layer is powered by FastAPI and our custom Traffic Engine. The ML layer runs XGBoost and Google OR-Tools. Data is managed through SQLite and Pandas, ensuring the app can run fully offline if needed.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dashboard is a comprehensive 7-screen Command Center. It offers a 3D city overview, real-time congestion gauges, a live heatmap with AR(1) forecasting, dedicated diversion management, fleet dispatch maps, an AI Commander for explainability, and a continuous learning loop module.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GridLock 2.0 innovative? First, our dynamic traffic engine simulates multi-factor live traffic. Second, our custom micro-simulator generates SUMO-ready bundles. Third, we build our own offline proximity graphs so the system never breaks without internet. Finally, we use military-grade constraint optimization to deploy police forces.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is highly performant. On our benchmark sets, the XGBoost engine achieved an R-squared of 0.889. The system routinely maintains over 85% confidence in deployment recommendations. And for clearance times, our mean absolute error is 74 minutes across thousands of varied Astram records.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is massive. We clear incidents faster, saving thousands of liters of fuel and CO2 emissions. We optimize exactly how many police and barricades are deployed. Most importantly, it scales. Built on an entirely open-source stack, this platform can be deployed in any tier-1 city worldwide without expensive licensing.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we envision V2X integration, live CCTV ingestion, and linking this engine to Flipkart's logistics fleet to guarantee delivery ETAs. GridLock 2.0 is more than a dashboard; it's a foundation for smart city traffic governance. Thank you for your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729"/>
        </a:solidFill>
        <a:effectLst/>
      </p:bgPr>
    </p:bg>
    <p:spTree>
      <p:nvGrpSpPr>
        <p:cNvPr id="1" name=""/>
        <p:cNvGrpSpPr/>
        <p:nvPr/>
      </p:nvGrpSpPr>
      <p:grpSpPr/>
      <p:sp>
        <p:nvSpPr>
          <p:cNvPr id="2" name="TextBox 1"/>
          <p:cNvSpPr txBox="1"/>
          <p:nvPr/>
        </p:nvSpPr>
        <p:spPr>
          <a:xfrm>
            <a:off x="914400" y="2286000"/>
            <a:ext cx="7315200" cy="1828800"/>
          </a:xfrm>
          <a:prstGeom prst="rect">
            <a:avLst/>
          </a:prstGeom>
          <a:noFill/>
        </p:spPr>
        <p:txBody>
          <a:bodyPr wrap="none">
            <a:spAutoFit/>
          </a:bodyPr>
          <a:lstStyle/>
          <a:p>
            <a:pPr algn="ctr">
              <a:defRPr b="1" sz="5400">
                <a:solidFill>
                  <a:srgbClr val="FFFFFF"/>
                </a:solidFill>
              </a:defRPr>
            </a:pPr>
            <a:r>
              <a:t>Flipkart GridLock 2.0</a:t>
            </a:r>
          </a:p>
          <a:p>
            <a:pPr algn="ctr">
              <a:defRPr sz="2400">
                <a:solidFill>
                  <a:srgbClr val="00C8FF"/>
                </a:solidFill>
              </a:defRPr>
            </a:pPr>
            <a:r>
              <a:t>AI-Powered Traffic Diversion &amp; Incident Management Platform</a:t>
            </a:r>
          </a:p>
          <a:p>
            <a:br/>
            <a:pPr algn="ctr">
              <a:defRPr sz="1800">
                <a:solidFill>
                  <a:srgbClr val="C8C8C8"/>
                </a:solidFill>
              </a:defRPr>
            </a:pPr>
            <a:r>
              <a:t>Predictive Intelligence for Smart City Resilience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729"/>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defRPr b="1" sz="3600">
                <a:solidFill>
                  <a:srgbClr val="00C8FF"/>
                </a:solidFill>
              </a:defRPr>
            </a:pPr>
            <a:r>
              <a:t>The Problem: Event-Driven Congestion</a:t>
            </a:r>
          </a:p>
        </p:txBody>
      </p:sp>
      <p:sp>
        <p:nvSpPr>
          <p:cNvPr id="3" name="Rectangle 2"/>
          <p:cNvSpPr/>
          <p:nvPr/>
        </p:nvSpPr>
        <p:spPr>
          <a:xfrm>
            <a:off x="457200" y="1097280"/>
            <a:ext cx="2743200" cy="457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645920"/>
            <a:ext cx="3657600" cy="2011680"/>
          </a:xfrm>
          <a:prstGeom prst="roundRect">
            <a:avLst/>
          </a:prstGeom>
          <a:solidFill>
            <a:srgbClr val="142846"/>
          </a:solidFill>
          <a:ln>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FFFFFF"/>
                </a:solidFill>
              </a:defRPr>
            </a:pPr>
            <a:r>
              <a:t>Traffic Congestion Challenges</a:t>
            </a:r>
          </a:p>
          <a:p>
            <a:pPr>
              <a:defRPr sz="1600">
                <a:solidFill>
                  <a:srgbClr val="C8C8C8"/>
                </a:solidFill>
              </a:defRPr>
            </a:pPr>
            <a:r>
              <a:t>• Chronic blackspots &amp; severe bottlenecks</a:t>
            </a:r>
            <a:br/>
            <a:r>
              <a:t>• Reactive instead of proactive management</a:t>
            </a:r>
            <a:br/>
            <a:r>
              <a:t>• 4,800+ breakdowns causing cascaded delays</a:t>
            </a:r>
          </a:p>
        </p:txBody>
      </p:sp>
      <p:sp>
        <p:nvSpPr>
          <p:cNvPr id="5" name="Rounded Rectangle 4"/>
          <p:cNvSpPr/>
          <p:nvPr/>
        </p:nvSpPr>
        <p:spPr>
          <a:xfrm>
            <a:off x="457200" y="3931920"/>
            <a:ext cx="3657600" cy="2011680"/>
          </a:xfrm>
          <a:prstGeom prst="roundRect">
            <a:avLst/>
          </a:prstGeom>
          <a:solidFill>
            <a:srgbClr val="142846"/>
          </a:solidFill>
          <a:ln>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FFFFFF"/>
                </a:solidFill>
              </a:defRPr>
            </a:pPr>
            <a:r>
              <a:t>Incident Response Delays</a:t>
            </a:r>
          </a:p>
          <a:p>
            <a:pPr>
              <a:defRPr sz="1600">
                <a:solidFill>
                  <a:srgbClr val="C8C8C8"/>
                </a:solidFill>
              </a:defRPr>
            </a:pPr>
            <a:r>
              <a:t>• Manual, unoptimized manpower allocation</a:t>
            </a:r>
            <a:br/>
            <a:r>
              <a:t>• Lack of real-time multi-factor modeling</a:t>
            </a:r>
            <a:br/>
            <a:r>
              <a:t>• Over or under-deployment of police &amp; barricades</a:t>
            </a:r>
          </a:p>
        </p:txBody>
      </p:sp>
      <p:sp>
        <p:nvSpPr>
          <p:cNvPr id="6" name="Rounded Rectangle 5"/>
          <p:cNvSpPr/>
          <p:nvPr/>
        </p:nvSpPr>
        <p:spPr>
          <a:xfrm>
            <a:off x="4572000" y="1645920"/>
            <a:ext cx="4114800" cy="4297680"/>
          </a:xfrm>
          <a:prstGeom prst="roundRect">
            <a:avLst/>
          </a:prstGeom>
          <a:solidFill>
            <a:srgbClr val="142846"/>
          </a:solidFill>
          <a:ln>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400">
                <a:solidFill>
                  <a:srgbClr val="00C8FF"/>
                </a:solidFill>
              </a:defRPr>
            </a:pPr>
            <a:r>
              <a:t>The Opportunity</a:t>
            </a:r>
          </a:p>
          <a:p>
            <a:br/>
            <a:pPr>
              <a:defRPr sz="1800">
                <a:solidFill>
                  <a:srgbClr val="C8C8C8"/>
                </a:solidFill>
              </a:defRPr>
            </a:pPr>
            <a:r>
              <a:t>By leveraging AI and historical Astram data (8,200+ incidents), we can predict clearance times, mine chronic blackspots, and automate diversion planning. Moving from reactive crisis control to predictive smart-city management saves fuel, time, and reduces emissions.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729"/>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defRPr b="1" sz="3600">
                <a:solidFill>
                  <a:srgbClr val="00C8FF"/>
                </a:solidFill>
              </a:defRPr>
            </a:pPr>
            <a:r>
              <a:t>Our Solution: End-to-End Workflow</a:t>
            </a:r>
          </a:p>
        </p:txBody>
      </p:sp>
      <p:sp>
        <p:nvSpPr>
          <p:cNvPr id="3" name="Rectangle 2"/>
          <p:cNvSpPr/>
          <p:nvPr/>
        </p:nvSpPr>
        <p:spPr>
          <a:xfrm>
            <a:off x="457200" y="1097280"/>
            <a:ext cx="2743200" cy="457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457200" y="2743200"/>
            <a:ext cx="1463040" cy="1463040"/>
          </a:xfrm>
          <a:prstGeom prst="hexagon">
            <a:avLst/>
          </a:prstGeom>
          <a:solidFill>
            <a:srgbClr val="1F6FEB"/>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1. Data Fusion</a:t>
            </a:r>
          </a:p>
        </p:txBody>
      </p:sp>
      <p:sp>
        <p:nvSpPr>
          <p:cNvPr id="5" name="TextBox 4"/>
          <p:cNvSpPr txBox="1"/>
          <p:nvPr/>
        </p:nvSpPr>
        <p:spPr>
          <a:xfrm>
            <a:off x="457200" y="4389120"/>
            <a:ext cx="1463040" cy="1371600"/>
          </a:xfrm>
          <a:prstGeom prst="rect">
            <a:avLst/>
          </a:prstGeom>
          <a:noFill/>
        </p:spPr>
        <p:txBody>
          <a:bodyPr wrap="square">
            <a:spAutoFit/>
          </a:bodyPr>
          <a:lstStyle/>
          <a:p>
            <a:pPr algn="ctr">
              <a:defRPr sz="1200">
                <a:solidFill>
                  <a:srgbClr val="C8C8C8"/>
                </a:solidFill>
              </a:defRPr>
            </a:pPr>
            <a:r>
              <a:t>Ingest Astram data, weather, &amp; live events</a:t>
            </a:r>
          </a:p>
        </p:txBody>
      </p:sp>
      <p:sp>
        <p:nvSpPr>
          <p:cNvPr id="6" name="Right Arrow 5"/>
          <p:cNvSpPr/>
          <p:nvPr/>
        </p:nvSpPr>
        <p:spPr>
          <a:xfrm>
            <a:off x="1920240" y="3291840"/>
            <a:ext cx="274320" cy="274320"/>
          </a:xfrm>
          <a:prstGeom prst="rightArrow">
            <a:avLst/>
          </a:prstGeom>
          <a:solidFill>
            <a:srgbClr val="00C8FF"/>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2103120" y="2743200"/>
            <a:ext cx="1463040" cy="1463040"/>
          </a:xfrm>
          <a:prstGeom prst="hexagon">
            <a:avLst/>
          </a:prstGeom>
          <a:solidFill>
            <a:srgbClr val="1F6FEB"/>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2. AI Prediction</a:t>
            </a:r>
          </a:p>
        </p:txBody>
      </p:sp>
      <p:sp>
        <p:nvSpPr>
          <p:cNvPr id="8" name="TextBox 7"/>
          <p:cNvSpPr txBox="1"/>
          <p:nvPr/>
        </p:nvSpPr>
        <p:spPr>
          <a:xfrm>
            <a:off x="2103120" y="4389120"/>
            <a:ext cx="1463040" cy="1371600"/>
          </a:xfrm>
          <a:prstGeom prst="rect">
            <a:avLst/>
          </a:prstGeom>
          <a:noFill/>
        </p:spPr>
        <p:txBody>
          <a:bodyPr wrap="square">
            <a:spAutoFit/>
          </a:bodyPr>
          <a:lstStyle/>
          <a:p>
            <a:pPr algn="ctr">
              <a:defRPr sz="1200">
                <a:solidFill>
                  <a:srgbClr val="C8C8C8"/>
                </a:solidFill>
              </a:defRPr>
            </a:pPr>
            <a:r>
              <a:t>XGBoost &amp; LightGBM predict clearance &amp; severity</a:t>
            </a:r>
          </a:p>
        </p:txBody>
      </p:sp>
      <p:sp>
        <p:nvSpPr>
          <p:cNvPr id="9" name="Right Arrow 8"/>
          <p:cNvSpPr/>
          <p:nvPr/>
        </p:nvSpPr>
        <p:spPr>
          <a:xfrm>
            <a:off x="3566160" y="3291840"/>
            <a:ext cx="274320" cy="274320"/>
          </a:xfrm>
          <a:prstGeom prst="rightArrow">
            <a:avLst/>
          </a:prstGeom>
          <a:solidFill>
            <a:srgbClr val="00C8FF"/>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exagon 9"/>
          <p:cNvSpPr/>
          <p:nvPr/>
        </p:nvSpPr>
        <p:spPr>
          <a:xfrm>
            <a:off x="3749039" y="2743200"/>
            <a:ext cx="1463040" cy="1463040"/>
          </a:xfrm>
          <a:prstGeom prst="hexagon">
            <a:avLst/>
          </a:prstGeom>
          <a:solidFill>
            <a:srgbClr val="1F6FEB"/>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3. Optimization</a:t>
            </a:r>
          </a:p>
        </p:txBody>
      </p:sp>
      <p:sp>
        <p:nvSpPr>
          <p:cNvPr id="11" name="TextBox 10"/>
          <p:cNvSpPr txBox="1"/>
          <p:nvPr/>
        </p:nvSpPr>
        <p:spPr>
          <a:xfrm>
            <a:off x="3749039" y="4389120"/>
            <a:ext cx="1463040" cy="1371600"/>
          </a:xfrm>
          <a:prstGeom prst="rect">
            <a:avLst/>
          </a:prstGeom>
          <a:noFill/>
        </p:spPr>
        <p:txBody>
          <a:bodyPr wrap="square">
            <a:spAutoFit/>
          </a:bodyPr>
          <a:lstStyle/>
          <a:p>
            <a:pPr algn="ctr">
              <a:defRPr sz="1200">
                <a:solidFill>
                  <a:srgbClr val="C8C8C8"/>
                </a:solidFill>
              </a:defRPr>
            </a:pPr>
            <a:r>
              <a:t>OR-Tools allocates manpower &amp; barricades</a:t>
            </a:r>
          </a:p>
        </p:txBody>
      </p:sp>
      <p:sp>
        <p:nvSpPr>
          <p:cNvPr id="12" name="Right Arrow 11"/>
          <p:cNvSpPr/>
          <p:nvPr/>
        </p:nvSpPr>
        <p:spPr>
          <a:xfrm>
            <a:off x="5212080" y="3291840"/>
            <a:ext cx="274320" cy="274320"/>
          </a:xfrm>
          <a:prstGeom prst="rightArrow">
            <a:avLst/>
          </a:prstGeom>
          <a:solidFill>
            <a:srgbClr val="00C8FF"/>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exagon 12"/>
          <p:cNvSpPr/>
          <p:nvPr/>
        </p:nvSpPr>
        <p:spPr>
          <a:xfrm>
            <a:off x="5394960" y="2743200"/>
            <a:ext cx="1463040" cy="1463040"/>
          </a:xfrm>
          <a:prstGeom prst="hexagon">
            <a:avLst/>
          </a:prstGeom>
          <a:solidFill>
            <a:srgbClr val="1F6FEB"/>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4. Diversion</a:t>
            </a:r>
          </a:p>
        </p:txBody>
      </p:sp>
      <p:sp>
        <p:nvSpPr>
          <p:cNvPr id="14" name="TextBox 13"/>
          <p:cNvSpPr txBox="1"/>
          <p:nvPr/>
        </p:nvSpPr>
        <p:spPr>
          <a:xfrm>
            <a:off x="5394960" y="4389120"/>
            <a:ext cx="1463040" cy="1371600"/>
          </a:xfrm>
          <a:prstGeom prst="rect">
            <a:avLst/>
          </a:prstGeom>
          <a:noFill/>
        </p:spPr>
        <p:txBody>
          <a:bodyPr wrap="square">
            <a:spAutoFit/>
          </a:bodyPr>
          <a:lstStyle/>
          <a:p>
            <a:pPr algn="ctr">
              <a:defRPr sz="1200">
                <a:solidFill>
                  <a:srgbClr val="C8C8C8"/>
                </a:solidFill>
              </a:defRPr>
            </a:pPr>
            <a:r>
              <a:t>NetworkX plans optimal offline detours</a:t>
            </a:r>
          </a:p>
        </p:txBody>
      </p:sp>
      <p:sp>
        <p:nvSpPr>
          <p:cNvPr id="15" name="Right Arrow 14"/>
          <p:cNvSpPr/>
          <p:nvPr/>
        </p:nvSpPr>
        <p:spPr>
          <a:xfrm>
            <a:off x="6858000" y="3291840"/>
            <a:ext cx="274320" cy="274320"/>
          </a:xfrm>
          <a:prstGeom prst="rightArrow">
            <a:avLst/>
          </a:prstGeom>
          <a:solidFill>
            <a:srgbClr val="00C8FF"/>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exagon 15"/>
          <p:cNvSpPr/>
          <p:nvPr/>
        </p:nvSpPr>
        <p:spPr>
          <a:xfrm>
            <a:off x="7040880" y="2743200"/>
            <a:ext cx="1463040" cy="1463040"/>
          </a:xfrm>
          <a:prstGeom prst="hexagon">
            <a:avLst/>
          </a:prstGeom>
          <a:solidFill>
            <a:srgbClr val="1F6FEB"/>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5. Command Center</a:t>
            </a:r>
          </a:p>
        </p:txBody>
      </p:sp>
      <p:sp>
        <p:nvSpPr>
          <p:cNvPr id="17" name="TextBox 16"/>
          <p:cNvSpPr txBox="1"/>
          <p:nvPr/>
        </p:nvSpPr>
        <p:spPr>
          <a:xfrm>
            <a:off x="7040880" y="4389120"/>
            <a:ext cx="1463040" cy="1371600"/>
          </a:xfrm>
          <a:prstGeom prst="rect">
            <a:avLst/>
          </a:prstGeom>
          <a:noFill/>
        </p:spPr>
        <p:txBody>
          <a:bodyPr wrap="square">
            <a:spAutoFit/>
          </a:bodyPr>
          <a:lstStyle/>
          <a:p>
            <a:pPr algn="ctr">
              <a:defRPr sz="1200">
                <a:solidFill>
                  <a:srgbClr val="C8C8C8"/>
                </a:solidFill>
              </a:defRPr>
            </a:pPr>
            <a:r>
              <a:t>Streamlit visualizes actionable intelligence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729"/>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defRPr b="1" sz="3600">
                <a:solidFill>
                  <a:srgbClr val="00C8FF"/>
                </a:solidFill>
              </a:defRPr>
            </a:pPr>
            <a:r>
              <a:t>AI Intelligence Engine</a:t>
            </a:r>
          </a:p>
        </p:txBody>
      </p:sp>
      <p:sp>
        <p:nvSpPr>
          <p:cNvPr id="3" name="Rectangle 2"/>
          <p:cNvSpPr/>
          <p:nvPr/>
        </p:nvSpPr>
        <p:spPr>
          <a:xfrm>
            <a:off x="457200" y="1097280"/>
            <a:ext cx="2743200" cy="457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828800"/>
            <a:ext cx="3931920" cy="1645920"/>
          </a:xfrm>
          <a:prstGeom prst="roundRect">
            <a:avLst/>
          </a:prstGeom>
          <a:solidFill>
            <a:srgbClr val="0F1E37"/>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00C8FF"/>
                </a:solidFill>
              </a:defRPr>
            </a:pPr>
            <a:r>
              <a:t>XGBoost Congestion Model</a:t>
            </a:r>
          </a:p>
          <a:p>
            <a:pPr>
              <a:defRPr sz="1400">
                <a:solidFill>
                  <a:srgbClr val="C8C8C8"/>
                </a:solidFill>
              </a:defRPr>
            </a:pPr>
            <a:r>
              <a:t>Predicts congestion score (0-100) using event type, location, weather, crowd size, and diurnal curves. R² = 0.889</a:t>
            </a:r>
          </a:p>
        </p:txBody>
      </p:sp>
      <p:sp>
        <p:nvSpPr>
          <p:cNvPr id="5" name="Rounded Rectangle 4"/>
          <p:cNvSpPr/>
          <p:nvPr/>
        </p:nvSpPr>
        <p:spPr>
          <a:xfrm>
            <a:off x="4572000" y="1828800"/>
            <a:ext cx="3931920" cy="1645920"/>
          </a:xfrm>
          <a:prstGeom prst="roundRect">
            <a:avLst/>
          </a:prstGeom>
          <a:solidFill>
            <a:srgbClr val="0F1E37"/>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00C8FF"/>
                </a:solidFill>
              </a:defRPr>
            </a:pPr>
            <a:r>
              <a:t>LightGBM Clearance Regressor</a:t>
            </a:r>
          </a:p>
          <a:p>
            <a:pPr>
              <a:defRPr sz="1400">
                <a:solidFill>
                  <a:srgbClr val="C8C8C8"/>
                </a:solidFill>
              </a:defRPr>
            </a:pPr>
            <a:r>
              <a:t>Estimates exact incident clearance time (MAE = 74 min). Fuses text fields via SentenceTransformers (NLP).</a:t>
            </a:r>
          </a:p>
        </p:txBody>
      </p:sp>
      <p:sp>
        <p:nvSpPr>
          <p:cNvPr id="6" name="Rounded Rectangle 5"/>
          <p:cNvSpPr/>
          <p:nvPr/>
        </p:nvSpPr>
        <p:spPr>
          <a:xfrm>
            <a:off x="457200" y="4114800"/>
            <a:ext cx="3931920" cy="1645920"/>
          </a:xfrm>
          <a:prstGeom prst="roundRect">
            <a:avLst/>
          </a:prstGeom>
          <a:solidFill>
            <a:srgbClr val="0F1E37"/>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00C8FF"/>
                </a:solidFill>
              </a:defRPr>
            </a:pPr>
            <a:r>
              <a:t>Surge &amp; Blackspot Mining</a:t>
            </a:r>
          </a:p>
          <a:p>
            <a:pPr>
              <a:defRPr sz="1400">
                <a:solidFill>
                  <a:srgbClr val="C8C8C8"/>
                </a:solidFill>
              </a:defRPr>
            </a:pPr>
            <a:r>
              <a:t>DBSCAN clusters chronic incident hotspots. Anomaly detection algorithms identify volume surges in real-time.</a:t>
            </a:r>
          </a:p>
        </p:txBody>
      </p:sp>
      <p:sp>
        <p:nvSpPr>
          <p:cNvPr id="7" name="Rounded Rectangle 6"/>
          <p:cNvSpPr/>
          <p:nvPr/>
        </p:nvSpPr>
        <p:spPr>
          <a:xfrm>
            <a:off x="4572000" y="4114800"/>
            <a:ext cx="3931920" cy="1645920"/>
          </a:xfrm>
          <a:prstGeom prst="roundRect">
            <a:avLst/>
          </a:prstGeom>
          <a:solidFill>
            <a:srgbClr val="0F1E37"/>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00C8FF"/>
                </a:solidFill>
              </a:defRPr>
            </a:pPr>
            <a:r>
              <a:t>Explainable AI (XAI)</a:t>
            </a:r>
          </a:p>
          <a:p>
            <a:pPr>
              <a:defRPr sz="1400">
                <a:solidFill>
                  <a:srgbClr val="C8C8C8"/>
                </a:solidFill>
              </a:defRPr>
            </a:pPr>
            <a:r>
              <a:t>Provides transparent reasoning chains for decisions, showing feature weights (e.g., 'Historical Baseline' influenced 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729"/>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defRPr b="1" sz="3600">
                <a:solidFill>
                  <a:srgbClr val="00C8FF"/>
                </a:solidFill>
              </a:defRPr>
            </a:pPr>
            <a:r>
              <a:t>Technical Architecture</a:t>
            </a:r>
          </a:p>
        </p:txBody>
      </p:sp>
      <p:sp>
        <p:nvSpPr>
          <p:cNvPr id="3" name="Rectangle 2"/>
          <p:cNvSpPr/>
          <p:nvPr/>
        </p:nvSpPr>
        <p:spPr>
          <a:xfrm>
            <a:off x="457200" y="1097280"/>
            <a:ext cx="2743200" cy="457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371600"/>
            <a:ext cx="7315200" cy="914400"/>
          </a:xfrm>
          <a:prstGeom prst="rect">
            <a:avLst/>
          </a:prstGeom>
          <a:solidFill>
            <a:srgbClr val="142846"/>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defRPr>
            </a:pPr>
            <a:r>
              <a:t>Presentation Layer</a:t>
            </a:r>
          </a:p>
          <a:p>
            <a:pPr algn="ctr">
              <a:defRPr sz="1400">
                <a:solidFill>
                  <a:srgbClr val="C8C8C8"/>
                </a:solidFill>
              </a:defRPr>
            </a:pPr>
            <a:r>
              <a:t>Streamlit Dashboard • PyDeck 3D Maps • Plotly Charts</a:t>
            </a:r>
          </a:p>
        </p:txBody>
      </p:sp>
      <p:sp>
        <p:nvSpPr>
          <p:cNvPr id="5" name="Rectangle 4"/>
          <p:cNvSpPr/>
          <p:nvPr/>
        </p:nvSpPr>
        <p:spPr>
          <a:xfrm>
            <a:off x="914400" y="2743200"/>
            <a:ext cx="7315200" cy="914400"/>
          </a:xfrm>
          <a:prstGeom prst="rect">
            <a:avLst/>
          </a:prstGeom>
          <a:solidFill>
            <a:srgbClr val="142846"/>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defRPr>
            </a:pPr>
            <a:r>
              <a:t>Service Layer</a:t>
            </a:r>
          </a:p>
          <a:p>
            <a:pPr algn="ctr">
              <a:defRPr sz="1400">
                <a:solidFill>
                  <a:srgbClr val="C8C8C8"/>
                </a:solidFill>
              </a:defRPr>
            </a:pPr>
            <a:r>
              <a:t>FastAPI Endpoints • Traffic Engine • KPI Engine • Spatial Engine</a:t>
            </a:r>
          </a:p>
        </p:txBody>
      </p:sp>
      <p:sp>
        <p:nvSpPr>
          <p:cNvPr id="6" name="Rectangle 5"/>
          <p:cNvSpPr/>
          <p:nvPr/>
        </p:nvSpPr>
        <p:spPr>
          <a:xfrm>
            <a:off x="914400" y="4114800"/>
            <a:ext cx="7315200" cy="914400"/>
          </a:xfrm>
          <a:prstGeom prst="rect">
            <a:avLst/>
          </a:prstGeom>
          <a:solidFill>
            <a:srgbClr val="142846"/>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defRPr>
            </a:pPr>
            <a:r>
              <a:t>AI / ML Layer</a:t>
            </a:r>
          </a:p>
          <a:p>
            <a:pPr algn="ctr">
              <a:defRPr sz="1400">
                <a:solidFill>
                  <a:srgbClr val="C8C8C8"/>
                </a:solidFill>
              </a:defRPr>
            </a:pPr>
            <a:r>
              <a:t>XGBoost • LightGBM • OR-Tools (CP-SAT) • NetworkX Routing</a:t>
            </a:r>
          </a:p>
        </p:txBody>
      </p:sp>
      <p:sp>
        <p:nvSpPr>
          <p:cNvPr id="7" name="Rectangle 6"/>
          <p:cNvSpPr/>
          <p:nvPr/>
        </p:nvSpPr>
        <p:spPr>
          <a:xfrm>
            <a:off x="914400" y="5486400"/>
            <a:ext cx="7315200" cy="914400"/>
          </a:xfrm>
          <a:prstGeom prst="rect">
            <a:avLst/>
          </a:prstGeom>
          <a:solidFill>
            <a:srgbClr val="142846"/>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FFFFFF"/>
                </a:solidFill>
              </a:defRPr>
            </a:pPr>
            <a:r>
              <a:t>Data Layer</a:t>
            </a:r>
          </a:p>
          <a:p>
            <a:pPr algn="ctr">
              <a:defRPr sz="1400">
                <a:solidFill>
                  <a:srgbClr val="C8C8C8"/>
                </a:solidFill>
              </a:defRPr>
            </a:pPr>
            <a:r>
              <a:t>SQLite DB • Pandas • Cleaned Astram CSVs • Open-Meteo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729"/>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defRPr b="1" sz="3600">
                <a:solidFill>
                  <a:srgbClr val="00C8FF"/>
                </a:solidFill>
              </a:defRPr>
            </a:pPr>
            <a:r>
              <a:t>Traffic Command Center UI</a:t>
            </a:r>
          </a:p>
        </p:txBody>
      </p:sp>
      <p:sp>
        <p:nvSpPr>
          <p:cNvPr id="3" name="Rectangle 2"/>
          <p:cNvSpPr/>
          <p:nvPr/>
        </p:nvSpPr>
        <p:spPr>
          <a:xfrm>
            <a:off x="457200" y="1097280"/>
            <a:ext cx="2743200" cy="457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8229600" cy="4114800"/>
          </a:xfrm>
          <a:prstGeom prst="rect">
            <a:avLst/>
          </a:prstGeom>
          <a:noFill/>
        </p:spPr>
        <p:txBody>
          <a:bodyPr wrap="none">
            <a:spAutoFit/>
          </a:bodyPr>
          <a:lstStyle/>
          <a:p/>
          <a:p>
            <a:pPr>
              <a:spcAft>
                <a:spcPts val="1000"/>
              </a:spcAft>
              <a:defRPr sz="1600">
                <a:solidFill>
                  <a:srgbClr val="C8C8C8"/>
                </a:solidFill>
              </a:defRPr>
            </a:pPr>
            <a:r>
              <a:t>1. City Overview: Live PyDeck 3D map plotting incidents, diversions, and deployments.</a:t>
            </a:r>
          </a:p>
          <a:p>
            <a:pPr>
              <a:spcAft>
                <a:spcPts val="1000"/>
              </a:spcAft>
              <a:defRPr sz="1600">
                <a:solidFill>
                  <a:srgbClr val="C8C8C8"/>
                </a:solidFill>
              </a:defRPr>
            </a:pPr>
            <a:r>
              <a:t>2. Impact Prediction: Real-time congestion gauge and expected delay metrics.</a:t>
            </a:r>
          </a:p>
          <a:p>
            <a:pPr>
              <a:spcAft>
                <a:spcPts val="1000"/>
              </a:spcAft>
              <a:defRPr sz="1600">
                <a:solidFill>
                  <a:srgbClr val="C8C8C8"/>
                </a:solidFill>
              </a:defRPr>
            </a:pPr>
            <a:r>
              <a:t>3. Live Heatmap: Multi-factor traffic simulation + 15/30/60 min AR(1) forecasting.</a:t>
            </a:r>
          </a:p>
          <a:p>
            <a:pPr>
              <a:spcAft>
                <a:spcPts val="1000"/>
              </a:spcAft>
              <a:defRPr sz="1600">
                <a:solidFill>
                  <a:srgbClr val="C8C8C8"/>
                </a:solidFill>
              </a:defRPr>
            </a:pPr>
            <a:r>
              <a:t>4. Diversion Management: Alternate routes computed via NetworkX with fuel &amp; time savings.</a:t>
            </a:r>
          </a:p>
          <a:p>
            <a:pPr>
              <a:spcAft>
                <a:spcPts val="1000"/>
              </a:spcAft>
              <a:defRPr sz="1600">
                <a:solidFill>
                  <a:srgbClr val="C8C8C8"/>
                </a:solidFill>
              </a:defRPr>
            </a:pPr>
            <a:r>
              <a:t>5. Fleet Dispatch: Gap analysis and OR-Tools optimization for officers, marshals, and barricades.</a:t>
            </a:r>
          </a:p>
          <a:p>
            <a:pPr>
              <a:spcAft>
                <a:spcPts val="1000"/>
              </a:spcAft>
              <a:defRPr sz="1600">
                <a:solidFill>
                  <a:srgbClr val="C8C8C8"/>
                </a:solidFill>
              </a:defRPr>
            </a:pPr>
            <a:r>
              <a:t>6. AI Commander: Executive narrative explaining feature weights and system confidence.</a:t>
            </a:r>
          </a:p>
          <a:p>
            <a:pPr>
              <a:spcAft>
                <a:spcPts val="1000"/>
              </a:spcAft>
              <a:defRPr sz="1600">
                <a:solidFill>
                  <a:srgbClr val="C8C8C8"/>
                </a:solidFill>
              </a:defRPr>
            </a:pPr>
            <a:r>
              <a:t>7. Retraining Loop: Post-event accuracy report cards and automated SQLite-based learning.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729"/>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defRPr b="1" sz="3600">
                <a:solidFill>
                  <a:srgbClr val="00C8FF"/>
                </a:solidFill>
              </a:defRPr>
            </a:pPr>
            <a:r>
              <a:t>Key Innovations</a:t>
            </a:r>
          </a:p>
        </p:txBody>
      </p:sp>
      <p:sp>
        <p:nvSpPr>
          <p:cNvPr id="3" name="Rectangle 2"/>
          <p:cNvSpPr/>
          <p:nvPr/>
        </p:nvSpPr>
        <p:spPr>
          <a:xfrm>
            <a:off x="457200" y="1097280"/>
            <a:ext cx="2743200" cy="457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Brace 3"/>
          <p:cNvSpPr/>
          <p:nvPr/>
        </p:nvSpPr>
        <p:spPr>
          <a:xfrm>
            <a:off x="457200" y="1828800"/>
            <a:ext cx="274320" cy="914400"/>
          </a:xfrm>
          <a:prstGeom prst="rightBrace">
            <a:avLst/>
          </a:prstGeom>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914400"/>
          </a:xfrm>
          <a:prstGeom prst="rect">
            <a:avLst/>
          </a:prstGeom>
          <a:noFill/>
        </p:spPr>
        <p:txBody>
          <a:bodyPr wrap="none">
            <a:spAutoFit/>
          </a:bodyPr>
          <a:lstStyle/>
          <a:p>
            <a:pPr>
              <a:defRPr b="1" sz="2000">
                <a:solidFill>
                  <a:srgbClr val="00C8FF"/>
                </a:solidFill>
              </a:defRPr>
            </a:pPr>
            <a:r>
              <a:t>Dynamic Traffic Engine</a:t>
            </a:r>
          </a:p>
          <a:p>
            <a:pPr>
              <a:defRPr sz="1600">
                <a:solidFill>
                  <a:srgbClr val="C8C8C8"/>
                </a:solidFill>
              </a:defRPr>
            </a:pPr>
            <a:r>
              <a:t>Fuses diurnal curves, weather, event types, and closures to simulate realistic minute-by-minute traffic.</a:t>
            </a:r>
          </a:p>
        </p:txBody>
      </p:sp>
      <p:sp>
        <p:nvSpPr>
          <p:cNvPr id="6" name="Right Brace 5"/>
          <p:cNvSpPr/>
          <p:nvPr/>
        </p:nvSpPr>
        <p:spPr>
          <a:xfrm>
            <a:off x="457200" y="3017520"/>
            <a:ext cx="274320" cy="914400"/>
          </a:xfrm>
          <a:prstGeom prst="rightBrace">
            <a:avLst/>
          </a:prstGeom>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926080"/>
            <a:ext cx="7315200" cy="914400"/>
          </a:xfrm>
          <a:prstGeom prst="rect">
            <a:avLst/>
          </a:prstGeom>
          <a:noFill/>
        </p:spPr>
        <p:txBody>
          <a:bodyPr wrap="none">
            <a:spAutoFit/>
          </a:bodyPr>
          <a:lstStyle/>
          <a:p>
            <a:pPr>
              <a:defRPr b="1" sz="2000">
                <a:solidFill>
                  <a:srgbClr val="00C8FF"/>
                </a:solidFill>
              </a:defRPr>
            </a:pPr>
            <a:r>
              <a:t>Micro-Simulation Pipeline</a:t>
            </a:r>
          </a:p>
          <a:p>
            <a:pPr>
              <a:defRPr sz="1600">
                <a:solidFill>
                  <a:srgbClr val="C8C8C8"/>
                </a:solidFill>
              </a:defRPr>
            </a:pPr>
            <a:r>
              <a:t>Time-stepped queue modeling estimates emissions &amp; delay, exporting scenarios to SUMO.</a:t>
            </a:r>
          </a:p>
        </p:txBody>
      </p:sp>
      <p:sp>
        <p:nvSpPr>
          <p:cNvPr id="8" name="Right Brace 7"/>
          <p:cNvSpPr/>
          <p:nvPr/>
        </p:nvSpPr>
        <p:spPr>
          <a:xfrm>
            <a:off x="457200" y="4206240"/>
            <a:ext cx="274320" cy="914400"/>
          </a:xfrm>
          <a:prstGeom prst="rightBrace">
            <a:avLst/>
          </a:prstGeom>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7315200" cy="914400"/>
          </a:xfrm>
          <a:prstGeom prst="rect">
            <a:avLst/>
          </a:prstGeom>
          <a:noFill/>
        </p:spPr>
        <p:txBody>
          <a:bodyPr wrap="none">
            <a:spAutoFit/>
          </a:bodyPr>
          <a:lstStyle/>
          <a:p>
            <a:pPr>
              <a:defRPr b="1" sz="2000">
                <a:solidFill>
                  <a:srgbClr val="00C8FF"/>
                </a:solidFill>
              </a:defRPr>
            </a:pPr>
            <a:r>
              <a:t>Offline Proximity Graph</a:t>
            </a:r>
          </a:p>
          <a:p>
            <a:pPr>
              <a:defRPr sz="1600">
                <a:solidFill>
                  <a:srgbClr val="C8C8C8"/>
                </a:solidFill>
              </a:defRPr>
            </a:pPr>
            <a:r>
              <a:t>Generates network paths locally from incident GPS, eliminating dependency on constant internet APIs.</a:t>
            </a:r>
          </a:p>
        </p:txBody>
      </p:sp>
      <p:sp>
        <p:nvSpPr>
          <p:cNvPr id="10" name="Right Brace 9"/>
          <p:cNvSpPr/>
          <p:nvPr/>
        </p:nvSpPr>
        <p:spPr>
          <a:xfrm>
            <a:off x="457200" y="5394960"/>
            <a:ext cx="274320" cy="914400"/>
          </a:xfrm>
          <a:prstGeom prst="rightBrace">
            <a:avLst/>
          </a:prstGeom>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03520"/>
            <a:ext cx="7315200" cy="914400"/>
          </a:xfrm>
          <a:prstGeom prst="rect">
            <a:avLst/>
          </a:prstGeom>
          <a:noFill/>
        </p:spPr>
        <p:txBody>
          <a:bodyPr wrap="none">
            <a:spAutoFit/>
          </a:bodyPr>
          <a:lstStyle/>
          <a:p>
            <a:pPr>
              <a:defRPr b="1" sz="2000">
                <a:solidFill>
                  <a:srgbClr val="00C8FF"/>
                </a:solidFill>
              </a:defRPr>
            </a:pPr>
            <a:r>
              <a:t>Constraint Optimization</a:t>
            </a:r>
          </a:p>
          <a:p>
            <a:pPr>
              <a:defRPr sz="1600">
                <a:solidFill>
                  <a:srgbClr val="C8C8C8"/>
                </a:solidFill>
              </a:defRPr>
            </a:pPr>
            <a:r>
              <a:t>OR-Tools dynamically balances limited police personnel across high-risk corridors to maximize impact.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729"/>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defRPr b="1" sz="3600">
                <a:solidFill>
                  <a:srgbClr val="00C8FF"/>
                </a:solidFill>
              </a:defRPr>
            </a:pPr>
            <a:r>
              <a:t>Demonstrated Performance</a:t>
            </a:r>
          </a:p>
        </p:txBody>
      </p:sp>
      <p:sp>
        <p:nvSpPr>
          <p:cNvPr id="3" name="Rectangle 2"/>
          <p:cNvSpPr/>
          <p:nvPr/>
        </p:nvSpPr>
        <p:spPr>
          <a:xfrm>
            <a:off x="457200" y="1097280"/>
            <a:ext cx="2743200" cy="457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286000"/>
            <a:ext cx="2560320" cy="2286000"/>
          </a:xfrm>
          <a:prstGeom prst="roundRect">
            <a:avLst/>
          </a:prstGeom>
          <a:solidFill>
            <a:srgbClr val="0F1E37"/>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4000">
                <a:solidFill>
                  <a:srgbClr val="2ECC71"/>
                </a:solidFill>
              </a:defRPr>
            </a:pPr>
            <a:r>
              <a:t>0.889</a:t>
            </a:r>
          </a:p>
          <a:p>
            <a:pPr algn="ctr">
              <a:defRPr b="1" sz="1600">
                <a:solidFill>
                  <a:srgbClr val="FFFFFF"/>
                </a:solidFill>
              </a:defRPr>
            </a:pPr>
            <a:r>
              <a:t>XGBoost R² Score</a:t>
            </a:r>
          </a:p>
          <a:p>
            <a:br/>
            <a:pPr algn="ctr">
              <a:defRPr sz="1200">
                <a:solidFill>
                  <a:srgbClr val="C8C8C8"/>
                </a:solidFill>
              </a:defRPr>
            </a:pPr>
            <a:r>
              <a:t>Highly accurate congestion scoring on synthetic test set</a:t>
            </a:r>
          </a:p>
        </p:txBody>
      </p:sp>
      <p:sp>
        <p:nvSpPr>
          <p:cNvPr id="5" name="Rounded Rectangle 4"/>
          <p:cNvSpPr/>
          <p:nvPr/>
        </p:nvSpPr>
        <p:spPr>
          <a:xfrm>
            <a:off x="3200400" y="2286000"/>
            <a:ext cx="2560320" cy="2286000"/>
          </a:xfrm>
          <a:prstGeom prst="roundRect">
            <a:avLst/>
          </a:prstGeom>
          <a:solidFill>
            <a:srgbClr val="0F1E37"/>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4000">
                <a:solidFill>
                  <a:srgbClr val="2ECC71"/>
                </a:solidFill>
              </a:defRPr>
            </a:pPr>
            <a:r>
              <a:t>&gt;85%</a:t>
            </a:r>
          </a:p>
          <a:p>
            <a:pPr algn="ctr">
              <a:defRPr b="1" sz="1600">
                <a:solidFill>
                  <a:srgbClr val="FFFFFF"/>
                </a:solidFill>
              </a:defRPr>
            </a:pPr>
            <a:r>
              <a:t>Model Confidence</a:t>
            </a:r>
          </a:p>
          <a:p>
            <a:br/>
            <a:pPr algn="ctr">
              <a:defRPr sz="1200">
                <a:solidFill>
                  <a:srgbClr val="C8C8C8"/>
                </a:solidFill>
              </a:defRPr>
            </a:pPr>
            <a:r>
              <a:t>For high-risk critical events with explainable feature weights</a:t>
            </a:r>
          </a:p>
        </p:txBody>
      </p:sp>
      <p:sp>
        <p:nvSpPr>
          <p:cNvPr id="6" name="Rounded Rectangle 5"/>
          <p:cNvSpPr/>
          <p:nvPr/>
        </p:nvSpPr>
        <p:spPr>
          <a:xfrm>
            <a:off x="5943600" y="2286000"/>
            <a:ext cx="2560320" cy="2286000"/>
          </a:xfrm>
          <a:prstGeom prst="roundRect">
            <a:avLst/>
          </a:prstGeom>
          <a:solidFill>
            <a:srgbClr val="0F1E37"/>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4000">
                <a:solidFill>
                  <a:srgbClr val="2ECC71"/>
                </a:solidFill>
              </a:defRPr>
            </a:pPr>
            <a:r>
              <a:t>74 Min</a:t>
            </a:r>
          </a:p>
          <a:p>
            <a:pPr algn="ctr">
              <a:defRPr b="1" sz="1600">
                <a:solidFill>
                  <a:srgbClr val="FFFFFF"/>
                </a:solidFill>
              </a:defRPr>
            </a:pPr>
            <a:r>
              <a:t>Clearance MAE</a:t>
            </a:r>
          </a:p>
          <a:p>
            <a:br/>
            <a:pPr algn="ctr">
              <a:defRPr sz="1200">
                <a:solidFill>
                  <a:srgbClr val="C8C8C8"/>
                </a:solidFill>
              </a:defRPr>
            </a:pPr>
            <a:r>
              <a:t>Mean Absolute Error on predicting real incident clearance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729"/>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defRPr b="1" sz="3600">
                <a:solidFill>
                  <a:srgbClr val="00C8FF"/>
                </a:solidFill>
              </a:defRPr>
            </a:pPr>
            <a:r>
              <a:t>Business &amp; Civic Impact</a:t>
            </a:r>
          </a:p>
        </p:txBody>
      </p:sp>
      <p:sp>
        <p:nvSpPr>
          <p:cNvPr id="3" name="Rectangle 2"/>
          <p:cNvSpPr/>
          <p:nvPr/>
        </p:nvSpPr>
        <p:spPr>
          <a:xfrm>
            <a:off x="457200" y="1097280"/>
            <a:ext cx="2743200" cy="457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0"/>
            <a:ext cx="8229600" cy="4114800"/>
          </a:xfrm>
          <a:prstGeom prst="rect">
            <a:avLst/>
          </a:prstGeom>
          <a:noFill/>
        </p:spPr>
        <p:txBody>
          <a:bodyPr wrap="none">
            <a:spAutoFit/>
          </a:bodyPr>
          <a:lstStyle/>
          <a:p/>
          <a:p>
            <a:pPr>
              <a:spcAft>
                <a:spcPts val="1800"/>
              </a:spcAft>
              <a:defRPr sz="1800">
                <a:solidFill>
                  <a:srgbClr val="C8C8C8"/>
                </a:solidFill>
              </a:defRPr>
            </a:pPr>
            <a:r>
              <a:t>🛣️ Faster Incident Clearance: Intelligent dispatch reduces response times, unblocking arterials sooner.</a:t>
            </a:r>
          </a:p>
          <a:p>
            <a:pPr>
              <a:spcAft>
                <a:spcPts val="1800"/>
              </a:spcAft>
              <a:defRPr sz="1800">
                <a:solidFill>
                  <a:srgbClr val="C8C8C8"/>
                </a:solidFill>
              </a:defRPr>
            </a:pPr>
            <a:r>
              <a:t>🌿 Emissions Reduction: Every diverted vehicle saves idling fuel and reduces overall city CO2 footprint.</a:t>
            </a:r>
          </a:p>
          <a:p>
            <a:pPr>
              <a:spcAft>
                <a:spcPts val="1800"/>
              </a:spcAft>
              <a:defRPr sz="1800">
                <a:solidFill>
                  <a:srgbClr val="C8C8C8"/>
                </a:solidFill>
              </a:defRPr>
            </a:pPr>
            <a:r>
              <a:t>📊 Efficient Resource Usage: Prevents under-deployment at crisis zones and over-deployment at low-risk events.</a:t>
            </a:r>
          </a:p>
          <a:p>
            <a:pPr>
              <a:spcAft>
                <a:spcPts val="1800"/>
              </a:spcAft>
              <a:defRPr sz="1800">
                <a:solidFill>
                  <a:srgbClr val="C8C8C8"/>
                </a:solidFill>
              </a:defRPr>
            </a:pPr>
            <a:r>
              <a:t>📈 Predictive Governance: Allows authorities to transition from crisis management to predictive planning.</a:t>
            </a:r>
          </a:p>
          <a:p>
            <a:pPr>
              <a:spcAft>
                <a:spcPts val="1800"/>
              </a:spcAft>
              <a:defRPr sz="1800">
                <a:solidFill>
                  <a:srgbClr val="C8C8C8"/>
                </a:solidFill>
              </a:defRPr>
            </a:pPr>
            <a:r>
              <a:t>🚀 Scalability: Zero-cost open-source stack (SQLite, Pandas, LightGBM) scales instantly to any tier-1 city.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729"/>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defRPr b="1" sz="3600">
                <a:solidFill>
                  <a:srgbClr val="00C8FF"/>
                </a:solidFill>
              </a:defRPr>
            </a:pPr>
            <a:r>
              <a:t>Future Vision &amp; Roadmap</a:t>
            </a:r>
          </a:p>
        </p:txBody>
      </p:sp>
      <p:sp>
        <p:nvSpPr>
          <p:cNvPr id="3" name="Rectangle 2"/>
          <p:cNvSpPr/>
          <p:nvPr/>
        </p:nvSpPr>
        <p:spPr>
          <a:xfrm>
            <a:off x="457200" y="1097280"/>
            <a:ext cx="2743200" cy="457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828800"/>
            <a:ext cx="7772400" cy="2743200"/>
          </a:xfrm>
          <a:prstGeom prst="roundRect">
            <a:avLst/>
          </a:prstGeom>
          <a:solidFill>
            <a:srgbClr val="0F1E37"/>
          </a:solidFill>
          <a:ln>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spcAft>
                <a:spcPts val="1000"/>
              </a:spcAft>
              <a:defRPr sz="1800">
                <a:solidFill>
                  <a:srgbClr val="C8C8C8"/>
                </a:solidFill>
              </a:defRPr>
            </a:pPr>
            <a:r>
              <a:t>• V2X Integration: Direct API linking to connected vehicles for automated dynamic rerouting.</a:t>
            </a:r>
          </a:p>
          <a:p>
            <a:pPr>
              <a:spcAft>
                <a:spcPts val="1000"/>
              </a:spcAft>
              <a:defRPr sz="1800">
                <a:solidFill>
                  <a:srgbClr val="C8C8C8"/>
                </a:solidFill>
              </a:defRPr>
            </a:pPr>
            <a:r>
              <a:t>• Computer Vision: Ingesting live CCTV feeds to automatically validate crowd sizes &amp; incident severity.</a:t>
            </a:r>
          </a:p>
          <a:p>
            <a:pPr>
              <a:spcAft>
                <a:spcPts val="1000"/>
              </a:spcAft>
              <a:defRPr sz="1800">
                <a:solidFill>
                  <a:srgbClr val="C8C8C8"/>
                </a:solidFill>
              </a:defRPr>
            </a:pPr>
            <a:r>
              <a:t>• Dynamic Signal Control: Integrating with smart traffic lights to flush diversion corridors.</a:t>
            </a:r>
          </a:p>
          <a:p>
            <a:pPr>
              <a:spcAft>
                <a:spcPts val="1000"/>
              </a:spcAft>
              <a:defRPr sz="1800">
                <a:solidFill>
                  <a:srgbClr val="C8C8C8"/>
                </a:solidFill>
              </a:defRPr>
            </a:pPr>
            <a:r>
              <a:t>• Flipkart Logistics: Re-routing delivery fleets dynamically based on predictive gridlock APIs.</a:t>
            </a:r>
          </a:p>
        </p:txBody>
      </p:sp>
      <p:sp>
        <p:nvSpPr>
          <p:cNvPr id="5" name="TextBox 4"/>
          <p:cNvSpPr txBox="1"/>
          <p:nvPr/>
        </p:nvSpPr>
        <p:spPr>
          <a:xfrm>
            <a:off x="457200" y="5029200"/>
            <a:ext cx="7772400" cy="914400"/>
          </a:xfrm>
          <a:prstGeom prst="rect">
            <a:avLst/>
          </a:prstGeom>
          <a:noFill/>
        </p:spPr>
        <p:txBody>
          <a:bodyPr wrap="none">
            <a:spAutoFit/>
          </a:bodyPr>
          <a:lstStyle/>
          <a:p>
            <a:pPr algn="ctr">
              <a:defRPr b="1" sz="3200">
                <a:solidFill>
                  <a:srgbClr val="1F6FEB"/>
                </a:solidFill>
              </a:defRPr>
            </a:pPr>
            <a:r>
              <a:t>Thank You. Ready for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